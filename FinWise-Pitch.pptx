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n-kodali/product-analytics-and-experimentation" TargetMode="External"/><Relationship Id="rId3" Type="http://schemas.openxmlformats.org/officeDocument/2006/relationships/hyperlink" Target="https://lovable.dev/preview/VyxEvnoJLM8R1iphlhMWPeGAawA0Ac8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hyperlink" Target="https://lovable.dev/preview/VyxEvnoJLM8R1iphlhMWPeGAawA0Ac8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lovable.dev/preview/DHRLZmdzWTIuB3FNCu2hmkAutmQ8yhE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tudio.google.com/reporting/b2944a82-ee57-47f7-b838-fa9599111d8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n-kodali/product-analytics-and-experimentation" TargetMode="External"/><Relationship Id="rId3" Type="http://schemas.openxmlformats.org/officeDocument/2006/relationships/hyperlink" Target="https://lovable.dev/preview/VyxEvnoJLM8R1iphlhMWPeGAawA0Ac8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PRODUCT EXPERIMENTATION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FinWise, A Product-Led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E8EEFB"/>
                </a:solidFill>
                <a:latin typeface="Calibri"/>
              </a:rPr>
              <a:t>Unlock the revenue hidden in an underperforming reverse-trial PLG motion — from a flat 2% activation ceiling to a validated growth, retention, and monetization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FB0CC"/>
                </a:solidFill>
                <a:latin typeface="Calibri"/>
              </a:rPr>
              <a:t>Nandini Kodali · August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3108960" y="50292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7162C"/>
                </a:solidFill>
                <a:latin typeface="Calibri"/>
              </a:rPr>
              <a:t>View deliverables →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5943600" y="50292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Live prototype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SLIDE 2 · THE 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Growth hypothesis &amp; the bet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760720" cy="22860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3152" cy="2286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Calibri"/>
              </a:rPr>
              <a:t>GROWTH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If we redesign FinWise's trial onboarding to guide new users to complete data import and their first financial model within their first session, trial-to-paid conversion will increase — because 13 months of flat ~2% conversion, regardless of traffic volume, shows activation, not acquisition, is the real blocker.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760720" cy="265176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73152" cy="2651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Calibri"/>
              </a:rPr>
              <a:t>THE 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Bet on activation, not acquisition — redesign onboarding around the Aha moment instead of buying more top-of-funnel traffic, backed by a Collaboration growth loop where accountants bring their client base onto FinWise.</a:t>
            </a:r>
          </a:p>
        </p:txBody>
      </p:sp>
      <p:pic>
        <p:nvPicPr>
          <p:cNvPr id="12" name="Picture 11" descr="finwise_growth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43000"/>
            <a:ext cx="455556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SLIDE 3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Onboarding &amp; the Aha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73152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AHA-MOMENT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"I didn't have to build this myself, and now I can actually see my business's numbers clearly."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The moment a new trial user connects their financial data and sees their first auto-generated report or financial snapshot. Builds on the growth bet — connecting data and generating a report as core value. Beats a pure insights/alerts moment (needs historical data) — more Habit-stage than Day-1 Aha.</a:t>
            </a:r>
          </a:p>
        </p:txBody>
      </p:sp>
      <p:pic>
        <p:nvPicPr>
          <p:cNvPr id="9" name="Picture 8" descr="onboarding-step1-go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3566160" cy="50161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806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Step 1 · Goal</a:t>
            </a:r>
          </a:p>
        </p:txBody>
      </p:sp>
      <p:pic>
        <p:nvPicPr>
          <p:cNvPr id="11" name="Picture 10" descr="onboarding-step2-conne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880360"/>
            <a:ext cx="3566160" cy="50161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5806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Step 2 · Connect</a:t>
            </a:r>
          </a:p>
        </p:txBody>
      </p:sp>
      <p:pic>
        <p:nvPicPr>
          <p:cNvPr id="13" name="Picture 12" descr="onboarding-step3-ah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880360"/>
            <a:ext cx="3566160" cy="50161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5806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Step 3 · Aha</a:t>
            </a:r>
          </a:p>
        </p:txBody>
      </p:sp>
      <p:sp>
        <p:nvSpPr>
          <p:cNvPr id="15" name="Rounded Rectangle 14">
            <a:hlinkClick r:id="rId5"/>
          </p:cNvPr>
          <p:cNvSpPr/>
          <p:nvPr/>
        </p:nvSpPr>
        <p:spPr>
          <a:xfrm>
            <a:off x="4297680" y="6172200"/>
            <a:ext cx="3474720" cy="41148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7162C"/>
                </a:solidFill>
                <a:latin typeface="Calibri"/>
              </a:rPr>
              <a:t>Open onboarding prototype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SLIDE 4 · THE MECHANIC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Weekly Clear-to-Zero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852160" cy="45720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3152" cy="457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MECHANIC +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Weekly Clear-to-Zero — a countdown of uncategorized transactions remaining this week, tied to the same problem the Aha moment surfaced.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8EEFB"/>
                </a:solidFill>
                <a:latin typeface="Calibri"/>
              </a:rPr>
              <a:t>FinWise's 60% one-year churn is value churn: users get their one Aha moment during onboarding, then usage tapers off before it ever becomes a habit.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8EEFB"/>
                </a:solidFill>
                <a:latin typeface="Calibri"/>
              </a:rPr>
              <a:t>This mechanic builds that habit inside the reverse trial itself — before a paywall or renewal decision — so weekly categorization is already a habit by the time they evaluate paying.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8EEFB"/>
                </a:solidFill>
                <a:latin typeface="Calibri"/>
              </a:rPr>
              <a:t>Tied directly to real value (accurate books), not an arbitrary point system — keeps it out of the "reward loop without value" trap.</a:t>
            </a:r>
          </a:p>
        </p:txBody>
      </p:sp>
      <p:pic>
        <p:nvPicPr>
          <p:cNvPr id="8" name="Picture 7" descr="wireframe-weekly-clear-to-z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29200" cy="3536156"/>
          </a:xfrm>
          <a:prstGeom prst="rect">
            <a:avLst/>
          </a:prstGeom>
        </p:spPr>
      </p:pic>
      <p:sp>
        <p:nvSpPr>
          <p:cNvPr id="9" name="Rounded Rectangle 8">
            <a:hlinkClick r:id="rId3"/>
          </p:cNvPr>
          <p:cNvSpPr/>
          <p:nvPr/>
        </p:nvSpPr>
        <p:spPr>
          <a:xfrm>
            <a:off x="6949440" y="598932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wireframe prototype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SLIDE 5 · THE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 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3152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LEADING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Get Started Import Feature Usage % — activation step the onboarding redesign targets.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E8EEFB"/>
                </a:solidFill>
                <a:latin typeface="Calibri"/>
              </a:rPr>
              <a:t>Financial Modeling Feature Usage % — North Star behavior Weekly Clear-to-Zero reinforces; stronger (still weak) correlation with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73152" cy="1188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7185"/>
                </a:solidFill>
                <a:latin typeface="Calibri"/>
              </a:rPr>
              <a:t>LAGGING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Trial-to-Paid Conversion Rate — confirms whether leading indicators show up in the business result at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9768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97680"/>
            <a:ext cx="73152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Calibri"/>
              </a:rPr>
              <a:t>DATA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7185"/>
                </a:solidFill>
                <a:latin typeface="Calibri"/>
              </a:rPr>
              <a:t>~2% ceiling · flat 1.87%–2.08% for 13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EFB"/>
                </a:solidFill>
                <a:latin typeface="Calibri"/>
              </a:rPr>
              <a:t>Not traffic — structural trial cap. Import % ≈ −0.05; Modeling % ≈ +0.25. Likely instrumentation gap: monthly aggregates across overlapping cohorts.</a:t>
            </a:r>
          </a:p>
        </p:txBody>
      </p:sp>
      <p:pic>
        <p:nvPicPr>
          <p:cNvPr id="17" name="Picture 16" descr="finwise_module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126480" cy="3715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SLIDE 6 · THE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Experiment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108960" cy="36576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0A5FA"/>
                </a:solidFill>
                <a:latin typeface="Calibri"/>
              </a:rPr>
              <a:t>Method: Standard A/B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051560"/>
            <a:ext cx="3108960" cy="36576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Primary: Import Feature Usage 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051560"/>
            <a:ext cx="3108960" cy="36576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7185"/>
                </a:solidFill>
                <a:latin typeface="Calibri"/>
              </a:rPr>
              <a:t>Guardrail: Trial-to-Paid ≥ ~1.87%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114800" y="1554480"/>
            <a:ext cx="3840480" cy="36576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8BDF8"/>
                </a:solidFill>
                <a:latin typeface="Calibri"/>
              </a:rPr>
              <a:t>Data Studio report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488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73152" cy="4114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Calibri"/>
              </a:rPr>
              <a:t>METHOD +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Standard A/B Test. Single, self-contained onboarding change on new trial sign-ups — no shared-environment contamination, no urgent per-user cost for a bandit. Cleanest signal without overcomplicating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1488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2148840"/>
            <a:ext cx="73152" cy="411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HYPOTHESIS + PRIMARY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If we replace FinWise's current onboarding with the import-first flow (intent tap → connect account → personalized headline finding), then Get Started Import Feature Usage % will increase.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8EEFB"/>
                </a:solidFill>
                <a:latin typeface="Calibri"/>
              </a:rPr>
              <a:t>Success threshold: 15% relative increase within the first 14 days of a trial (assumed target — no formal MDE calculated).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488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148840"/>
            <a:ext cx="73152" cy="4114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7185"/>
                </a:solidFill>
                <a:latin typeface="Calibri"/>
              </a:rPr>
              <a:t>GUARDRAIL + READ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6974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Guardrail: Trial-to-Paid Conversion Rate must not drop below its historical floor of ~1.87%.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8EEFB"/>
                </a:solidFill>
                <a:latin typeface="Calibri"/>
              </a:rPr>
              <a:t>Read date: Day 14 of each trial cohort's window. Decided before launch — no peeking 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SLIDE 7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Pricing &amp; packaging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4D399"/>
                </a:solidFill>
                <a:latin typeface="Calibri"/>
              </a:rPr>
              <a:t>Stage 2 — Revenue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914400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78BFA"/>
                </a:solidFill>
                <a:latin typeface="Calibri"/>
              </a:rPr>
              <a:t>Reverse-trial + Freemium hybrid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914400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Packaging bet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6675120" cy="50292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5029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Replace the hard trial-expiration cutoff with a real, usable free tier: reconciliation, transaction categorization, and the account-connection flow stay free indefinitely.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8EEFB"/>
                </a:solidFill>
                <a:latin typeface="Calibri"/>
              </a:rPr>
              <a:t>Financial Modeling — the forecasting/modeling output that represents FinWise's actual North Star ("reach first modeling output") — sits behind the paywall.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8EEFB"/>
                </a:solidFill>
                <a:latin typeface="Calibri"/>
              </a:rPr>
              <a:t>This is a packaging bet ("is packaging matched to value?"), not a price increase or a full model change: the price points don't move, the free/paid line does.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8EEFB"/>
                </a:solidFill>
                <a:latin typeface="Calibri"/>
              </a:rPr>
              <a:t>Goal: stop losing the 98% who don't convert in the trial window; let them build habit on free and convert later at the modeling wall.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8EEFB"/>
                </a:solidFill>
                <a:latin typeface="Calibri"/>
              </a:rPr>
              <a:t>Trade-off: some urgency from a hard cutoff is lost. Accepted cost so acquisition can compound instead of depending entirely on paid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1732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417320"/>
            <a:ext cx="73152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STAGE +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874519"/>
            <a:ext cx="4114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Stage 2 — Revenue Expansion. Value proven at $10M ARR. Evidence: only 2% convert; 40% one-year retention (60% churn). Pure reverse-trial proves value fast but fits poorly to recurring habit — pair with a free tier.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886200"/>
            <a:ext cx="4480560" cy="256032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3886200"/>
            <a:ext cx="73152" cy="2560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Calibri"/>
              </a:rPr>
              <a:t>SUPPORTING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34340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EFB"/>
                </a:solidFill>
                <a:latin typeface="Calibri"/>
              </a:rPr>
              <a:t>Financial Modeling Feature Usage % — only leading indicator with positive (weak) correlation to paid conversion. Success: conversions cluster at first Modeling attempts. Guardrail: free-tier reconciliation engagement must not collapse.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7185"/>
                </a:solidFill>
                <a:latin typeface="Calibri"/>
              </a:rPr>
              <a:t>SLIDE 8 ·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Insights &amp; submit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3152" cy="32918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7185"/>
                </a:solidFill>
                <a:latin typeface="Calibri"/>
              </a:rPr>
              <a:t>BIGGEST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The instinct was to treat pricing as the fix — it's the most visible lever. Held off until the funnel data actually pointed there, which meant activation came first and pricing followed, as a packaging change, not a price hike.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09728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097280"/>
            <a:ext cx="73152" cy="3291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Calibri"/>
              </a:rPr>
              <a:t>KEY AHA MOMENT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The 2% conversion number stayed flat for 13 straight months no matter how much traffic changed. That's what turned this from an acquisition problem into an activation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9728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0E223F"/>
          </a:solidFill>
          <a:ln w="1270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097280"/>
            <a:ext cx="73152" cy="3291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7373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EFB"/>
                </a:solidFill>
                <a:latin typeface="Calibri"/>
              </a:rPr>
              <a:t>Let the data gate each decision instead of jumping to the obvious lever. A correlation that's weak is still worth reporting honestly, not stretched into a bigger signal than it 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SUBMIT ON THE LEARNING PLATFORM</a:t>
            </a:r>
          </a:p>
        </p:txBody>
      </p:sp>
      <p:sp>
        <p:nvSpPr>
          <p:cNvPr id="17" name="Rounded Rectangle 16">
            <a:hlinkClick r:id="rId2"/>
          </p:cNvPr>
          <p:cNvSpPr/>
          <p:nvPr/>
        </p:nvSpPr>
        <p:spPr>
          <a:xfrm>
            <a:off x="2926080" y="512064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7162C"/>
                </a:solidFill>
                <a:latin typeface="Calibri"/>
              </a:rPr>
              <a:t>View deliverables →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6126480" y="512064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Live prototype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FB0CC"/>
                </a:solidFill>
                <a:latin typeface="Calibri"/>
              </a:rPr>
              <a:t>Nandini Kodali · August · Product Experimentation Certification · Product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